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Fraunces" charset="1" panose="00000000000000000000"/>
      <p:regular r:id="rId19"/>
    </p:embeddedFont>
    <p:embeddedFont>
      <p:font typeface="Inter" charset="1" panose="020B0502030000000004"/>
      <p:regular r:id="rId20"/>
    </p:embeddedFont>
    <p:embeddedFont>
      <p:font typeface="Fraunces Bold" charset="1" panose="00000000000000000000"/>
      <p:regular r:id="rId21"/>
    </p:embeddedFont>
    <p:embeddedFont>
      <p:font typeface="Inter Bold" charset="1" panose="020B0802030000000004"/>
      <p:regular r:id="rId22"/>
    </p:embeddedFont>
    <p:embeddedFont>
      <p:font typeface="Cardo Bold" charset="1" panose="02020804080000020003"/>
      <p:regular r:id="rId23"/>
    </p:embeddedFont>
    <p:embeddedFont>
      <p:font typeface="Montserrat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7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19.jpe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37" r="0" b="-90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63752" y="3200400"/>
            <a:ext cx="14360496" cy="3086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1"/>
              </a:lnSpc>
            </a:pPr>
            <a:r>
              <a:rPr lang="en-US" sz="1800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NATIVARAM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606262" y="6252236"/>
            <a:ext cx="11111133" cy="1126250"/>
            <a:chOff x="0" y="0"/>
            <a:chExt cx="2926389" cy="296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389" cy="296625"/>
            </a:xfrm>
            <a:custGeom>
              <a:avLst/>
              <a:gdLst/>
              <a:ahLst/>
              <a:cxnLst/>
              <a:rect r="r" b="b" t="t" l="l"/>
              <a:pathLst>
                <a:path h="296625" w="2926389">
                  <a:moveTo>
                    <a:pt x="35535" y="0"/>
                  </a:moveTo>
                  <a:lnTo>
                    <a:pt x="2890854" y="0"/>
                  </a:lnTo>
                  <a:cubicBezTo>
                    <a:pt x="2900278" y="0"/>
                    <a:pt x="2909317" y="3744"/>
                    <a:pt x="2915981" y="10408"/>
                  </a:cubicBezTo>
                  <a:cubicBezTo>
                    <a:pt x="2922645" y="17072"/>
                    <a:pt x="2926389" y="26111"/>
                    <a:pt x="2926389" y="35535"/>
                  </a:cubicBezTo>
                  <a:lnTo>
                    <a:pt x="2926389" y="261090"/>
                  </a:lnTo>
                  <a:cubicBezTo>
                    <a:pt x="2926389" y="270515"/>
                    <a:pt x="2922645" y="279553"/>
                    <a:pt x="2915981" y="286217"/>
                  </a:cubicBezTo>
                  <a:cubicBezTo>
                    <a:pt x="2909317" y="292882"/>
                    <a:pt x="2900278" y="296625"/>
                    <a:pt x="2890854" y="296625"/>
                  </a:cubicBezTo>
                  <a:lnTo>
                    <a:pt x="35535" y="296625"/>
                  </a:lnTo>
                  <a:cubicBezTo>
                    <a:pt x="15910" y="296625"/>
                    <a:pt x="0" y="280716"/>
                    <a:pt x="0" y="261090"/>
                  </a:cubicBezTo>
                  <a:lnTo>
                    <a:pt x="0" y="35535"/>
                  </a:lnTo>
                  <a:cubicBezTo>
                    <a:pt x="0" y="26111"/>
                    <a:pt x="3744" y="17072"/>
                    <a:pt x="10408" y="10408"/>
                  </a:cubicBezTo>
                  <a:cubicBezTo>
                    <a:pt x="17072" y="3744"/>
                    <a:pt x="26111" y="0"/>
                    <a:pt x="35535" y="0"/>
                  </a:cubicBezTo>
                  <a:close/>
                </a:path>
              </a:pathLst>
            </a:custGeom>
            <a:solidFill>
              <a:srgbClr val="2B470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926389" cy="35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731131" y="6334885"/>
            <a:ext cx="10825739" cy="139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6"/>
              </a:lnSpc>
            </a:pPr>
            <a:r>
              <a:rPr lang="en-US" sz="26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"Buscadores que escolheram a entrega de alma como única forma de caminhar."</a:t>
            </a:r>
          </a:p>
          <a:p>
            <a:pPr algn="ctr">
              <a:lnSpc>
                <a:spcPts val="371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64959" y="-1816182"/>
            <a:ext cx="9415008" cy="941500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B470E">
                    <a:alpha val="100000"/>
                  </a:srgbClr>
                </a:gs>
                <a:gs pos="100000">
                  <a:srgbClr val="4A791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9144000" y="5960121"/>
            <a:ext cx="9484352" cy="4742176"/>
          </a:xfrm>
          <a:custGeom>
            <a:avLst/>
            <a:gdLst/>
            <a:ahLst/>
            <a:cxnLst/>
            <a:rect r="r" b="b" t="t" l="l"/>
            <a:pathLst>
              <a:path h="4742176" w="9484352">
                <a:moveTo>
                  <a:pt x="9484352" y="0"/>
                </a:moveTo>
                <a:lnTo>
                  <a:pt x="0" y="0"/>
                </a:lnTo>
                <a:lnTo>
                  <a:pt x="0" y="4742176"/>
                </a:lnTo>
                <a:lnTo>
                  <a:pt x="9484352" y="4742176"/>
                </a:lnTo>
                <a:lnTo>
                  <a:pt x="948435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646436" y="1349318"/>
            <a:ext cx="7770695" cy="77706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true" flipV="true" rot="0">
            <a:off x="13153702" y="-350478"/>
            <a:ext cx="5601337" cy="5493978"/>
          </a:xfrm>
          <a:custGeom>
            <a:avLst/>
            <a:gdLst/>
            <a:ahLst/>
            <a:cxnLst/>
            <a:rect r="r" b="b" t="t" l="l"/>
            <a:pathLst>
              <a:path h="5493978" w="5601337">
                <a:moveTo>
                  <a:pt x="5601336" y="5493978"/>
                </a:moveTo>
                <a:lnTo>
                  <a:pt x="0" y="5493978"/>
                </a:lnTo>
                <a:lnTo>
                  <a:pt x="0" y="0"/>
                </a:lnTo>
                <a:lnTo>
                  <a:pt x="5601336" y="0"/>
                </a:lnTo>
                <a:lnTo>
                  <a:pt x="5601336" y="549397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63530" y="1653391"/>
            <a:ext cx="8182906" cy="278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4"/>
              </a:lnSpc>
            </a:pPr>
            <a:r>
              <a:rPr lang="en-US" sz="8499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O Manifesto: Nascidos do Raio de Sol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3530" y="4394210"/>
            <a:ext cx="6822301" cy="393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4604C"/>
                </a:solidFill>
                <a:latin typeface="Inter"/>
                <a:ea typeface="Inter"/>
                <a:cs typeface="Inter"/>
                <a:sym typeface="Inter"/>
              </a:rPr>
              <a:t>Nativaram não é apenas um nome; é a nossa gênese. Significa "Nascidos do Raio de Sol". Somos buscadores que escolheram a entrega de alma como única forma de caminhar. Acreditamos que a luz da consciência deve iluminar o caminho entre a floresta e o mundo, transformando o ato da partilha em um serviço espiritual.</a:t>
            </a:r>
          </a:p>
          <a:p>
            <a:pPr algn="l">
              <a:lnSpc>
                <a:spcPts val="35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470E">
                <a:alpha val="100000"/>
              </a:srgbClr>
            </a:gs>
            <a:gs pos="100000">
              <a:srgbClr val="4A791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9909" y="5050896"/>
            <a:ext cx="11302803" cy="5651401"/>
          </a:xfrm>
          <a:custGeom>
            <a:avLst/>
            <a:gdLst/>
            <a:ahLst/>
            <a:cxnLst/>
            <a:rect r="r" b="b" t="t" l="l"/>
            <a:pathLst>
              <a:path h="5651401" w="11302803">
                <a:moveTo>
                  <a:pt x="0" y="0"/>
                </a:moveTo>
                <a:lnTo>
                  <a:pt x="11302803" y="0"/>
                </a:lnTo>
                <a:lnTo>
                  <a:pt x="11302803" y="5651401"/>
                </a:lnTo>
                <a:lnTo>
                  <a:pt x="0" y="56514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6070" y="5143500"/>
            <a:ext cx="6979246" cy="3833754"/>
            <a:chOff x="0" y="0"/>
            <a:chExt cx="1081268" cy="593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1268" cy="593949"/>
            </a:xfrm>
            <a:custGeom>
              <a:avLst/>
              <a:gdLst/>
              <a:ahLst/>
              <a:cxnLst/>
              <a:rect r="r" b="b" t="t" l="l"/>
              <a:pathLst>
                <a:path h="593949" w="1081268">
                  <a:moveTo>
                    <a:pt x="38825" y="0"/>
                  </a:moveTo>
                  <a:lnTo>
                    <a:pt x="1042443" y="0"/>
                  </a:lnTo>
                  <a:cubicBezTo>
                    <a:pt x="1063886" y="0"/>
                    <a:pt x="1081268" y="17382"/>
                    <a:pt x="1081268" y="38825"/>
                  </a:cubicBezTo>
                  <a:lnTo>
                    <a:pt x="1081268" y="555124"/>
                  </a:lnTo>
                  <a:cubicBezTo>
                    <a:pt x="1081268" y="565421"/>
                    <a:pt x="1077177" y="575296"/>
                    <a:pt x="1069896" y="582577"/>
                  </a:cubicBezTo>
                  <a:cubicBezTo>
                    <a:pt x="1062615" y="589858"/>
                    <a:pt x="1052740" y="593949"/>
                    <a:pt x="1042443" y="593949"/>
                  </a:cubicBezTo>
                  <a:lnTo>
                    <a:pt x="38825" y="593949"/>
                  </a:lnTo>
                  <a:cubicBezTo>
                    <a:pt x="17382" y="593949"/>
                    <a:pt x="0" y="576566"/>
                    <a:pt x="0" y="555124"/>
                  </a:cubicBezTo>
                  <a:lnTo>
                    <a:pt x="0" y="38825"/>
                  </a:lnTo>
                  <a:cubicBezTo>
                    <a:pt x="0" y="17382"/>
                    <a:pt x="17382" y="0"/>
                    <a:pt x="3882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644" r="0" b="-1064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89841" y="1901531"/>
            <a:ext cx="1164651" cy="1145393"/>
            <a:chOff x="0" y="0"/>
            <a:chExt cx="306739" cy="301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6739" cy="301667"/>
            </a:xfrm>
            <a:custGeom>
              <a:avLst/>
              <a:gdLst/>
              <a:ahLst/>
              <a:cxnLst/>
              <a:rect r="r" b="b" t="t" l="l"/>
              <a:pathLst>
                <a:path h="301667" w="306739">
                  <a:moveTo>
                    <a:pt x="126301" y="0"/>
                  </a:moveTo>
                  <a:lnTo>
                    <a:pt x="180438" y="0"/>
                  </a:lnTo>
                  <a:cubicBezTo>
                    <a:pt x="213935" y="0"/>
                    <a:pt x="246061" y="13307"/>
                    <a:pt x="269747" y="36993"/>
                  </a:cubicBezTo>
                  <a:cubicBezTo>
                    <a:pt x="293433" y="60679"/>
                    <a:pt x="306739" y="92804"/>
                    <a:pt x="306739" y="126301"/>
                  </a:cubicBezTo>
                  <a:lnTo>
                    <a:pt x="306739" y="175366"/>
                  </a:lnTo>
                  <a:cubicBezTo>
                    <a:pt x="306739" y="208863"/>
                    <a:pt x="293433" y="240989"/>
                    <a:pt x="269747" y="264675"/>
                  </a:cubicBezTo>
                  <a:cubicBezTo>
                    <a:pt x="246061" y="288361"/>
                    <a:pt x="213935" y="301667"/>
                    <a:pt x="180438" y="301667"/>
                  </a:cubicBezTo>
                  <a:lnTo>
                    <a:pt x="126301" y="301667"/>
                  </a:lnTo>
                  <a:cubicBezTo>
                    <a:pt x="56547" y="301667"/>
                    <a:pt x="0" y="245120"/>
                    <a:pt x="0" y="175366"/>
                  </a:cubicBezTo>
                  <a:lnTo>
                    <a:pt x="0" y="126301"/>
                  </a:lnTo>
                  <a:cubicBezTo>
                    <a:pt x="0" y="56547"/>
                    <a:pt x="56547" y="0"/>
                    <a:pt x="126301" y="0"/>
                  </a:cubicBezTo>
                  <a:close/>
                </a:path>
              </a:pathLst>
            </a:custGeom>
            <a:solidFill>
              <a:srgbClr val="93C33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6739" cy="339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85911" y="5050896"/>
            <a:ext cx="1164651" cy="1145393"/>
            <a:chOff x="0" y="0"/>
            <a:chExt cx="306739" cy="3016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6739" cy="301667"/>
            </a:xfrm>
            <a:custGeom>
              <a:avLst/>
              <a:gdLst/>
              <a:ahLst/>
              <a:cxnLst/>
              <a:rect r="r" b="b" t="t" l="l"/>
              <a:pathLst>
                <a:path h="301667" w="306739">
                  <a:moveTo>
                    <a:pt x="126301" y="0"/>
                  </a:moveTo>
                  <a:lnTo>
                    <a:pt x="180438" y="0"/>
                  </a:lnTo>
                  <a:cubicBezTo>
                    <a:pt x="213935" y="0"/>
                    <a:pt x="246061" y="13307"/>
                    <a:pt x="269747" y="36993"/>
                  </a:cubicBezTo>
                  <a:cubicBezTo>
                    <a:pt x="293433" y="60679"/>
                    <a:pt x="306739" y="92804"/>
                    <a:pt x="306739" y="126301"/>
                  </a:cubicBezTo>
                  <a:lnTo>
                    <a:pt x="306739" y="175366"/>
                  </a:lnTo>
                  <a:cubicBezTo>
                    <a:pt x="306739" y="208863"/>
                    <a:pt x="293433" y="240989"/>
                    <a:pt x="269747" y="264675"/>
                  </a:cubicBezTo>
                  <a:cubicBezTo>
                    <a:pt x="246061" y="288361"/>
                    <a:pt x="213935" y="301667"/>
                    <a:pt x="180438" y="301667"/>
                  </a:cubicBezTo>
                  <a:lnTo>
                    <a:pt x="126301" y="301667"/>
                  </a:lnTo>
                  <a:cubicBezTo>
                    <a:pt x="56547" y="301667"/>
                    <a:pt x="0" y="245120"/>
                    <a:pt x="0" y="175366"/>
                  </a:cubicBezTo>
                  <a:lnTo>
                    <a:pt x="0" y="126301"/>
                  </a:lnTo>
                  <a:cubicBezTo>
                    <a:pt x="0" y="56547"/>
                    <a:pt x="56547" y="0"/>
                    <a:pt x="126301" y="0"/>
                  </a:cubicBezTo>
                  <a:close/>
                </a:path>
              </a:pathLst>
            </a:custGeom>
            <a:solidFill>
              <a:srgbClr val="93C33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06739" cy="339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true" rot="0">
            <a:off x="13153702" y="-350478"/>
            <a:ext cx="5601337" cy="5493978"/>
          </a:xfrm>
          <a:custGeom>
            <a:avLst/>
            <a:gdLst/>
            <a:ahLst/>
            <a:cxnLst/>
            <a:rect r="r" b="b" t="t" l="l"/>
            <a:pathLst>
              <a:path h="5493978" w="5601337">
                <a:moveTo>
                  <a:pt x="5601336" y="5493978"/>
                </a:moveTo>
                <a:lnTo>
                  <a:pt x="0" y="5493978"/>
                </a:lnTo>
                <a:lnTo>
                  <a:pt x="0" y="0"/>
                </a:lnTo>
                <a:lnTo>
                  <a:pt x="5601336" y="0"/>
                </a:lnTo>
                <a:lnTo>
                  <a:pt x="5601336" y="54939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785911" y="1827671"/>
            <a:ext cx="7230281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Comércio como Veículo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19905" y="1808621"/>
            <a:ext cx="197797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9841" y="2094138"/>
            <a:ext cx="1154628" cy="61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</a:pPr>
            <a:r>
              <a:rPr lang="en-US" sz="4048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5911" y="5279512"/>
            <a:ext cx="1154628" cy="61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</a:pPr>
            <a:r>
              <a:rPr lang="en-US" sz="4048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57845" y="5041371"/>
            <a:ext cx="197797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Fluxo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19905" y="2345497"/>
            <a:ext cx="5215411" cy="21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Somos um elo de transparência e reverência, onde cada troca é, na verdade, um ato de conexão divina e respeito ao Grande Mistério.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57845" y="5670021"/>
            <a:ext cx="4999589" cy="393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Para nós, o comércio é apenas o veículo. Nossa verdadeira missão é o fluxo: permitir que a sabedoria contida nas plantas de poder, no toque do artesanato e na vibração dos instrumentos atravesse as fronteiras da mata e encontre o coração de quem busca.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40730" y="4144822"/>
            <a:ext cx="13606540" cy="6142178"/>
            <a:chOff x="0" y="0"/>
            <a:chExt cx="3583616" cy="16176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83616" cy="1617693"/>
            </a:xfrm>
            <a:custGeom>
              <a:avLst/>
              <a:gdLst/>
              <a:ahLst/>
              <a:cxnLst/>
              <a:rect r="r" b="b" t="t" l="l"/>
              <a:pathLst>
                <a:path h="1617693" w="3583616">
                  <a:moveTo>
                    <a:pt x="27311" y="0"/>
                  </a:moveTo>
                  <a:lnTo>
                    <a:pt x="3556305" y="0"/>
                  </a:lnTo>
                  <a:cubicBezTo>
                    <a:pt x="3571388" y="0"/>
                    <a:pt x="3583616" y="12228"/>
                    <a:pt x="3583616" y="27311"/>
                  </a:cubicBezTo>
                  <a:lnTo>
                    <a:pt x="3583616" y="1590382"/>
                  </a:lnTo>
                  <a:cubicBezTo>
                    <a:pt x="3583616" y="1597625"/>
                    <a:pt x="3580738" y="1604572"/>
                    <a:pt x="3575617" y="1609694"/>
                  </a:cubicBezTo>
                  <a:cubicBezTo>
                    <a:pt x="3570494" y="1614816"/>
                    <a:pt x="3563548" y="1617693"/>
                    <a:pt x="3556305" y="1617693"/>
                  </a:cubicBezTo>
                  <a:lnTo>
                    <a:pt x="27311" y="1617693"/>
                  </a:lnTo>
                  <a:cubicBezTo>
                    <a:pt x="12228" y="1617693"/>
                    <a:pt x="0" y="1605465"/>
                    <a:pt x="0" y="1590382"/>
                  </a:cubicBezTo>
                  <a:lnTo>
                    <a:pt x="0" y="27311"/>
                  </a:lnTo>
                  <a:cubicBezTo>
                    <a:pt x="0" y="20068"/>
                    <a:pt x="2877" y="13121"/>
                    <a:pt x="7999" y="7999"/>
                  </a:cubicBezTo>
                  <a:cubicBezTo>
                    <a:pt x="13121" y="2877"/>
                    <a:pt x="20068" y="0"/>
                    <a:pt x="273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B470E">
                    <a:alpha val="100000"/>
                  </a:srgbClr>
                </a:gs>
                <a:gs pos="100000">
                  <a:srgbClr val="4A791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83616" cy="1655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69093" y="5279621"/>
            <a:ext cx="15135182" cy="6035154"/>
          </a:xfrm>
          <a:custGeom>
            <a:avLst/>
            <a:gdLst/>
            <a:ahLst/>
            <a:cxnLst/>
            <a:rect r="r" b="b" t="t" l="l"/>
            <a:pathLst>
              <a:path h="6035154" w="15135182">
                <a:moveTo>
                  <a:pt x="0" y="0"/>
                </a:moveTo>
                <a:lnTo>
                  <a:pt x="15135183" y="0"/>
                </a:lnTo>
                <a:lnTo>
                  <a:pt x="15135183" y="6035154"/>
                </a:lnTo>
                <a:lnTo>
                  <a:pt x="0" y="6035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58342" y="1816668"/>
            <a:ext cx="15692173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6900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Quem Somos: A Alquimia entre Dois Mundos</a:t>
            </a:r>
          </a:p>
        </p:txBody>
      </p:sp>
      <p:sp>
        <p:nvSpPr>
          <p:cNvPr name="Freeform 8" id="8"/>
          <p:cNvSpPr/>
          <p:nvPr/>
        </p:nvSpPr>
        <p:spPr>
          <a:xfrm flipH="true" flipV="true" rot="0">
            <a:off x="13153702" y="-350478"/>
            <a:ext cx="5601337" cy="5493978"/>
          </a:xfrm>
          <a:custGeom>
            <a:avLst/>
            <a:gdLst/>
            <a:ahLst/>
            <a:cxnLst/>
            <a:rect r="r" b="b" t="t" l="l"/>
            <a:pathLst>
              <a:path h="5493978" w="5601337">
                <a:moveTo>
                  <a:pt x="5601336" y="5493978"/>
                </a:moveTo>
                <a:lnTo>
                  <a:pt x="0" y="5493978"/>
                </a:lnTo>
                <a:lnTo>
                  <a:pt x="0" y="0"/>
                </a:lnTo>
                <a:lnTo>
                  <a:pt x="5601336" y="0"/>
                </a:lnTo>
                <a:lnTo>
                  <a:pt x="5601336" y="54939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8200" y="2086832"/>
            <a:ext cx="1980285" cy="2851041"/>
          </a:xfrm>
          <a:custGeom>
            <a:avLst/>
            <a:gdLst/>
            <a:ahLst/>
            <a:cxnLst/>
            <a:rect r="r" b="b" t="t" l="l"/>
            <a:pathLst>
              <a:path h="2851041" w="1980285">
                <a:moveTo>
                  <a:pt x="0" y="0"/>
                </a:moveTo>
                <a:lnTo>
                  <a:pt x="1980285" y="0"/>
                </a:lnTo>
                <a:lnTo>
                  <a:pt x="1980285" y="2851041"/>
                </a:lnTo>
                <a:lnTo>
                  <a:pt x="0" y="2851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54477" y="4549161"/>
            <a:ext cx="11379047" cy="306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A Nativaram Brasil é o ponto de encontro de linhagens. Nascemos da união profunda entre a sabedoria ancestral dos povos originários na manipulação das plantas de poder e o rigor técnico das doutrinas tradicionais ocidentais. 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Nossa identidade é fruto de uma Alquimia de Saberes. Somos mãos que integram a ciência e o sagrado, unindo a precisão do estudo contemporâneo à maestria milenar da cultura acreano-amazônica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470E">
                <a:alpha val="100000"/>
              </a:srgbClr>
            </a:gs>
            <a:gs pos="100000">
              <a:srgbClr val="4A791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2727669" y="5201924"/>
            <a:ext cx="15560331" cy="6204682"/>
          </a:xfrm>
          <a:custGeom>
            <a:avLst/>
            <a:gdLst/>
            <a:ahLst/>
            <a:cxnLst/>
            <a:rect r="r" b="b" t="t" l="l"/>
            <a:pathLst>
              <a:path h="6204682" w="15560331">
                <a:moveTo>
                  <a:pt x="15560331" y="0"/>
                </a:moveTo>
                <a:lnTo>
                  <a:pt x="0" y="0"/>
                </a:lnTo>
                <a:lnTo>
                  <a:pt x="0" y="6204682"/>
                </a:lnTo>
                <a:lnTo>
                  <a:pt x="15560331" y="6204682"/>
                </a:lnTo>
                <a:lnTo>
                  <a:pt x="1556033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153702" y="-350478"/>
            <a:ext cx="5601337" cy="5493978"/>
          </a:xfrm>
          <a:custGeom>
            <a:avLst/>
            <a:gdLst/>
            <a:ahLst/>
            <a:cxnLst/>
            <a:rect r="r" b="b" t="t" l="l"/>
            <a:pathLst>
              <a:path h="5493978" w="5601337">
                <a:moveTo>
                  <a:pt x="5601336" y="5493978"/>
                </a:moveTo>
                <a:lnTo>
                  <a:pt x="0" y="5493978"/>
                </a:lnTo>
                <a:lnTo>
                  <a:pt x="0" y="0"/>
                </a:lnTo>
                <a:lnTo>
                  <a:pt x="5601336" y="0"/>
                </a:lnTo>
                <a:lnTo>
                  <a:pt x="5601336" y="549397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95911" y="856325"/>
            <a:ext cx="7602093" cy="8229600"/>
          </a:xfrm>
          <a:custGeom>
            <a:avLst/>
            <a:gdLst/>
            <a:ahLst/>
            <a:cxnLst/>
            <a:rect r="r" b="b" t="t" l="l"/>
            <a:pathLst>
              <a:path h="8229600" w="7602093">
                <a:moveTo>
                  <a:pt x="0" y="0"/>
                </a:moveTo>
                <a:lnTo>
                  <a:pt x="7602093" y="0"/>
                </a:lnTo>
                <a:lnTo>
                  <a:pt x="76020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88038" y="1840853"/>
            <a:ext cx="9063298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FFFDF4"/>
                </a:solidFill>
                <a:latin typeface="Fraunces Bold"/>
                <a:ea typeface="Fraunces Bold"/>
                <a:cs typeface="Fraunces Bold"/>
                <a:sym typeface="Fraunces Bold"/>
              </a:rPr>
              <a:t>Alquimia de Saberes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8038" y="4913975"/>
            <a:ext cx="11379047" cy="21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Carregamos o "Brasil" em nosso nome porque somos síntese: um mosaico de culturas e saberes que se fundem para levar a força da natureza a todo o país. Com raízes no Norte e nossa ponte de distribuição no Sudeste, garantimos que os Sacramentos da Natureza circulem com integridade, segurança e a pureza que a tradição exige.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82392" y="2759025"/>
            <a:ext cx="11250124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815"/>
              </a:lnSpc>
            </a:pPr>
            <a:r>
              <a:rPr lang="en-US" sz="10679" b="true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Os Sacramentos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693997" y="7133936"/>
            <a:ext cx="18191245" cy="671427"/>
            <a:chOff x="0" y="0"/>
            <a:chExt cx="4791110" cy="176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1110" cy="176837"/>
            </a:xfrm>
            <a:custGeom>
              <a:avLst/>
              <a:gdLst/>
              <a:ahLst/>
              <a:cxnLst/>
              <a:rect r="r" b="b" t="t" l="l"/>
              <a:pathLst>
                <a:path h="176837" w="4791110">
                  <a:moveTo>
                    <a:pt x="21705" y="0"/>
                  </a:moveTo>
                  <a:lnTo>
                    <a:pt x="4769405" y="0"/>
                  </a:lnTo>
                  <a:cubicBezTo>
                    <a:pt x="4781392" y="0"/>
                    <a:pt x="4791110" y="9718"/>
                    <a:pt x="4791110" y="21705"/>
                  </a:cubicBezTo>
                  <a:lnTo>
                    <a:pt x="4791110" y="155132"/>
                  </a:lnTo>
                  <a:cubicBezTo>
                    <a:pt x="4791110" y="160888"/>
                    <a:pt x="4788823" y="166409"/>
                    <a:pt x="4784753" y="170480"/>
                  </a:cubicBezTo>
                  <a:cubicBezTo>
                    <a:pt x="4780682" y="174550"/>
                    <a:pt x="4775162" y="176837"/>
                    <a:pt x="4769405" y="176837"/>
                  </a:cubicBezTo>
                  <a:lnTo>
                    <a:pt x="21705" y="176837"/>
                  </a:lnTo>
                  <a:cubicBezTo>
                    <a:pt x="9718" y="176837"/>
                    <a:pt x="0" y="167119"/>
                    <a:pt x="0" y="155132"/>
                  </a:cubicBezTo>
                  <a:lnTo>
                    <a:pt x="0" y="21705"/>
                  </a:lnTo>
                  <a:cubicBezTo>
                    <a:pt x="0" y="9718"/>
                    <a:pt x="9718" y="0"/>
                    <a:pt x="21705" y="0"/>
                  </a:cubicBezTo>
                  <a:close/>
                </a:path>
              </a:pathLst>
            </a:custGeom>
            <a:solidFill>
              <a:srgbClr val="2B470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791110" cy="233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14846" y="7248019"/>
            <a:ext cx="14677028" cy="39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sz="2322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Nosso trabalho não se limita ao que se consome, mas abrange tudo o que evoca a presença do sagrado.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08251" y="4378275"/>
            <a:ext cx="7129146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43"/>
              </a:lnSpc>
            </a:pPr>
            <a:r>
              <a:rPr lang="en-US" sz="8369" b="true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Sabedoria da Floresta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02390" y="2928201"/>
            <a:ext cx="10296062" cy="1029606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B470E">
                    <a:alpha val="100000"/>
                  </a:srgbClr>
                </a:gs>
                <a:gs pos="100000">
                  <a:srgbClr val="4A791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7967990" y="-442843"/>
            <a:ext cx="10660361" cy="5330181"/>
          </a:xfrm>
          <a:custGeom>
            <a:avLst/>
            <a:gdLst/>
            <a:ahLst/>
            <a:cxnLst/>
            <a:rect r="r" b="b" t="t" l="l"/>
            <a:pathLst>
              <a:path h="5330181" w="10660361">
                <a:moveTo>
                  <a:pt x="10660362" y="5330181"/>
                </a:moveTo>
                <a:lnTo>
                  <a:pt x="0" y="5330181"/>
                </a:lnTo>
                <a:lnTo>
                  <a:pt x="0" y="0"/>
                </a:lnTo>
                <a:lnTo>
                  <a:pt x="10660362" y="0"/>
                </a:lnTo>
                <a:lnTo>
                  <a:pt x="10660362" y="533018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646436" y="1349318"/>
            <a:ext cx="7770695" cy="77706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23690" y="5746750"/>
            <a:ext cx="6822301" cy="1308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Sacr</a:t>
            </a: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amentos que carregam a força da floresta e a sabedoria da terra em sua forma mais íntegra.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3690" y="3241675"/>
            <a:ext cx="7320310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Plantas de Poder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24341" y="2470593"/>
            <a:ext cx="10296062" cy="1029606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B470E">
                    <a:alpha val="100000"/>
                  </a:srgbClr>
                </a:gs>
                <a:gs pos="100000">
                  <a:srgbClr val="4A791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0" y="0"/>
            <a:ext cx="10660361" cy="5330181"/>
          </a:xfrm>
          <a:custGeom>
            <a:avLst/>
            <a:gdLst/>
            <a:ahLst/>
            <a:cxnLst/>
            <a:rect r="r" b="b" t="t" l="l"/>
            <a:pathLst>
              <a:path h="5330181" w="10660361">
                <a:moveTo>
                  <a:pt x="0" y="5330181"/>
                </a:moveTo>
                <a:lnTo>
                  <a:pt x="10660361" y="5330181"/>
                </a:lnTo>
                <a:lnTo>
                  <a:pt x="10660361" y="0"/>
                </a:lnTo>
                <a:lnTo>
                  <a:pt x="0" y="0"/>
                </a:lnTo>
                <a:lnTo>
                  <a:pt x="0" y="533018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23690" y="1487605"/>
            <a:ext cx="7770695" cy="77706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4906" t="0" r="-2490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660361" y="5746750"/>
            <a:ext cx="6822301" cy="21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materialização da cosmologia de diversos povos em objetos que guardam a história e a proteção da mata.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660361" y="3241675"/>
            <a:ext cx="7320310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Artesanato Ancestral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02390" y="2928201"/>
            <a:ext cx="10296062" cy="1029606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B470E">
                    <a:alpha val="100000"/>
                  </a:srgbClr>
                </a:gs>
                <a:gs pos="100000">
                  <a:srgbClr val="4A791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7967990" y="-442843"/>
            <a:ext cx="10660361" cy="5330181"/>
          </a:xfrm>
          <a:custGeom>
            <a:avLst/>
            <a:gdLst/>
            <a:ahLst/>
            <a:cxnLst/>
            <a:rect r="r" b="b" t="t" l="l"/>
            <a:pathLst>
              <a:path h="5330181" w="10660361">
                <a:moveTo>
                  <a:pt x="10660362" y="5330181"/>
                </a:moveTo>
                <a:lnTo>
                  <a:pt x="0" y="5330181"/>
                </a:lnTo>
                <a:lnTo>
                  <a:pt x="0" y="0"/>
                </a:lnTo>
                <a:lnTo>
                  <a:pt x="10660362" y="0"/>
                </a:lnTo>
                <a:lnTo>
                  <a:pt x="10660362" y="533018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646436" y="1349318"/>
            <a:ext cx="7770695" cy="77706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8431" t="0" r="-2843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23690" y="5746750"/>
            <a:ext cx="6822301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 memória olfativa da floresta através de resinas, defumações e incensaria, preparando o campo para o encontro com o divino.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23690" y="3241675"/>
            <a:ext cx="7320310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Aromas da Terra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470E">
                <a:alpha val="100000"/>
              </a:srgbClr>
            </a:gs>
            <a:gs pos="100000">
              <a:srgbClr val="4A791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97026" y="2067287"/>
            <a:ext cx="6762274" cy="235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2"/>
              </a:lnSpc>
            </a:pPr>
            <a:r>
              <a:rPr lang="en-US" sz="7768" b="true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Missão, Visão e Valores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7967990" y="5404773"/>
            <a:ext cx="10660361" cy="5330181"/>
          </a:xfrm>
          <a:custGeom>
            <a:avLst/>
            <a:gdLst/>
            <a:ahLst/>
            <a:cxnLst/>
            <a:rect r="r" b="b" t="t" l="l"/>
            <a:pathLst>
              <a:path h="5330181" w="10660361">
                <a:moveTo>
                  <a:pt x="10660362" y="0"/>
                </a:moveTo>
                <a:lnTo>
                  <a:pt x="0" y="0"/>
                </a:lnTo>
                <a:lnTo>
                  <a:pt x="0" y="5330181"/>
                </a:lnTo>
                <a:lnTo>
                  <a:pt x="10660362" y="5330181"/>
                </a:lnTo>
                <a:lnTo>
                  <a:pt x="1066036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84530" y="1619612"/>
            <a:ext cx="1164651" cy="1145393"/>
            <a:chOff x="0" y="0"/>
            <a:chExt cx="306739" cy="3016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6739" cy="301667"/>
            </a:xfrm>
            <a:custGeom>
              <a:avLst/>
              <a:gdLst/>
              <a:ahLst/>
              <a:cxnLst/>
              <a:rect r="r" b="b" t="t" l="l"/>
              <a:pathLst>
                <a:path h="301667" w="306739">
                  <a:moveTo>
                    <a:pt x="126301" y="0"/>
                  </a:moveTo>
                  <a:lnTo>
                    <a:pt x="180438" y="0"/>
                  </a:lnTo>
                  <a:cubicBezTo>
                    <a:pt x="213935" y="0"/>
                    <a:pt x="246061" y="13307"/>
                    <a:pt x="269747" y="36993"/>
                  </a:cubicBezTo>
                  <a:cubicBezTo>
                    <a:pt x="293433" y="60679"/>
                    <a:pt x="306739" y="92804"/>
                    <a:pt x="306739" y="126301"/>
                  </a:cubicBezTo>
                  <a:lnTo>
                    <a:pt x="306739" y="175366"/>
                  </a:lnTo>
                  <a:cubicBezTo>
                    <a:pt x="306739" y="208863"/>
                    <a:pt x="293433" y="240989"/>
                    <a:pt x="269747" y="264675"/>
                  </a:cubicBezTo>
                  <a:cubicBezTo>
                    <a:pt x="246061" y="288361"/>
                    <a:pt x="213935" y="301667"/>
                    <a:pt x="180438" y="301667"/>
                  </a:cubicBezTo>
                  <a:lnTo>
                    <a:pt x="126301" y="301667"/>
                  </a:lnTo>
                  <a:cubicBezTo>
                    <a:pt x="56547" y="301667"/>
                    <a:pt x="0" y="245120"/>
                    <a:pt x="0" y="175366"/>
                  </a:cubicBezTo>
                  <a:lnTo>
                    <a:pt x="0" y="126301"/>
                  </a:lnTo>
                  <a:cubicBezTo>
                    <a:pt x="0" y="56547"/>
                    <a:pt x="56547" y="0"/>
                    <a:pt x="126301" y="0"/>
                  </a:cubicBezTo>
                  <a:close/>
                </a:path>
              </a:pathLst>
            </a:custGeom>
            <a:solidFill>
              <a:srgbClr val="93C33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06739" cy="339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67100" y="5694417"/>
            <a:ext cx="1164651" cy="1145393"/>
            <a:chOff x="0" y="0"/>
            <a:chExt cx="306739" cy="301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6739" cy="301667"/>
            </a:xfrm>
            <a:custGeom>
              <a:avLst/>
              <a:gdLst/>
              <a:ahLst/>
              <a:cxnLst/>
              <a:rect r="r" b="b" t="t" l="l"/>
              <a:pathLst>
                <a:path h="301667" w="306739">
                  <a:moveTo>
                    <a:pt x="126301" y="0"/>
                  </a:moveTo>
                  <a:lnTo>
                    <a:pt x="180438" y="0"/>
                  </a:lnTo>
                  <a:cubicBezTo>
                    <a:pt x="213935" y="0"/>
                    <a:pt x="246061" y="13307"/>
                    <a:pt x="269747" y="36993"/>
                  </a:cubicBezTo>
                  <a:cubicBezTo>
                    <a:pt x="293433" y="60679"/>
                    <a:pt x="306739" y="92804"/>
                    <a:pt x="306739" y="126301"/>
                  </a:cubicBezTo>
                  <a:lnTo>
                    <a:pt x="306739" y="175366"/>
                  </a:lnTo>
                  <a:cubicBezTo>
                    <a:pt x="306739" y="208863"/>
                    <a:pt x="293433" y="240989"/>
                    <a:pt x="269747" y="264675"/>
                  </a:cubicBezTo>
                  <a:cubicBezTo>
                    <a:pt x="246061" y="288361"/>
                    <a:pt x="213935" y="301667"/>
                    <a:pt x="180438" y="301667"/>
                  </a:cubicBezTo>
                  <a:lnTo>
                    <a:pt x="126301" y="301667"/>
                  </a:lnTo>
                  <a:cubicBezTo>
                    <a:pt x="56547" y="301667"/>
                    <a:pt x="0" y="245120"/>
                    <a:pt x="0" y="175366"/>
                  </a:cubicBezTo>
                  <a:lnTo>
                    <a:pt x="0" y="126301"/>
                  </a:lnTo>
                  <a:cubicBezTo>
                    <a:pt x="0" y="56547"/>
                    <a:pt x="56547" y="0"/>
                    <a:pt x="126301" y="0"/>
                  </a:cubicBezTo>
                  <a:close/>
                </a:path>
              </a:pathLst>
            </a:custGeom>
            <a:solidFill>
              <a:srgbClr val="93C33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6739" cy="339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86788" y="4811965"/>
            <a:ext cx="4123062" cy="412306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00" t="0" r="-2500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76033" y="4811965"/>
            <a:ext cx="4123062" cy="41230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1538" t="0" r="-11538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true" flipV="true" rot="0">
            <a:off x="13153702" y="-350478"/>
            <a:ext cx="5601337" cy="5493978"/>
          </a:xfrm>
          <a:custGeom>
            <a:avLst/>
            <a:gdLst/>
            <a:ahLst/>
            <a:cxnLst/>
            <a:rect r="r" b="b" t="t" l="l"/>
            <a:pathLst>
              <a:path h="5493978" w="5601337">
                <a:moveTo>
                  <a:pt x="5601336" y="5493978"/>
                </a:moveTo>
                <a:lnTo>
                  <a:pt x="0" y="5493978"/>
                </a:lnTo>
                <a:lnTo>
                  <a:pt x="0" y="0"/>
                </a:lnTo>
                <a:lnTo>
                  <a:pt x="5601336" y="0"/>
                </a:lnTo>
                <a:lnTo>
                  <a:pt x="5601336" y="549397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59584" y="2401224"/>
            <a:ext cx="6671360" cy="262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Atuar como um canal de síntese e integridade, levando a sabedoria das plantas de poder e os tesouros da cultura ancestral ao buscador contemporâneo, unindo tradição e estudo técnico em benefício da expansão da consciência.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42153" y="6476028"/>
            <a:ext cx="5801847" cy="262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Ser a principal referência brasileira na integração de saberes, sendo reconhecidos pela pureza dos nossos sacramentos e pela profundidade da nossa conexão entre as raízes amazônicas e o Brasil como um todo.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59584" y="1610087"/>
            <a:ext cx="313848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Missão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42153" y="5684892"/>
            <a:ext cx="313848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Visão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4530" y="1848229"/>
            <a:ext cx="1154628" cy="61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</a:pPr>
            <a:r>
              <a:rPr lang="en-US" sz="4048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67100" y="5916160"/>
            <a:ext cx="1154628" cy="61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</a:pPr>
            <a:r>
              <a:rPr lang="en-US" sz="4048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7175041" y="-303556"/>
            <a:ext cx="11365205" cy="5682603"/>
          </a:xfrm>
          <a:custGeom>
            <a:avLst/>
            <a:gdLst/>
            <a:ahLst/>
            <a:cxnLst/>
            <a:rect r="r" b="b" t="t" l="l"/>
            <a:pathLst>
              <a:path h="5682603" w="11365205">
                <a:moveTo>
                  <a:pt x="11365205" y="5682603"/>
                </a:moveTo>
                <a:lnTo>
                  <a:pt x="0" y="5682603"/>
                </a:lnTo>
                <a:lnTo>
                  <a:pt x="0" y="0"/>
                </a:lnTo>
                <a:lnTo>
                  <a:pt x="11365205" y="0"/>
                </a:lnTo>
                <a:lnTo>
                  <a:pt x="11365205" y="568260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47479" y="2254251"/>
            <a:ext cx="10246846" cy="7004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4604C"/>
                </a:solidFill>
                <a:latin typeface="Inter"/>
                <a:ea typeface="Inter"/>
                <a:cs typeface="Inter"/>
                <a:sym typeface="Inter"/>
              </a:rPr>
              <a:t>Reverência ao Sagrado: Tratamos cada elemento como uma manifestação divina e cada processo como uma oração.</a:t>
            </a:r>
          </a:p>
          <a:p>
            <a:pPr algn="l">
              <a:lnSpc>
                <a:spcPts val="3500"/>
              </a:lnSpc>
            </a:pP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4604C"/>
                </a:solidFill>
                <a:latin typeface="Inter"/>
                <a:ea typeface="Inter"/>
                <a:cs typeface="Inter"/>
                <a:sym typeface="Inter"/>
              </a:rPr>
              <a:t>Sinergia de Saberes: Honramos tanto a maestria dos povos originários quanto o rigor do estudo técnico-científico.</a:t>
            </a:r>
          </a:p>
          <a:p>
            <a:pPr algn="l">
              <a:lnSpc>
                <a:spcPts val="3500"/>
              </a:lnSpc>
            </a:pP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4604C"/>
                </a:solidFill>
                <a:latin typeface="Inter"/>
                <a:ea typeface="Inter"/>
                <a:cs typeface="Inter"/>
                <a:sym typeface="Inter"/>
              </a:rPr>
              <a:t>Identidade de Síntese: Valorizamos a pluralidade cultural brasileira como a base da nossa força e criação.</a:t>
            </a:r>
          </a:p>
          <a:p>
            <a:pPr algn="l">
              <a:lnSpc>
                <a:spcPts val="3500"/>
              </a:lnSpc>
            </a:pP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4604C"/>
                </a:solidFill>
                <a:latin typeface="Inter"/>
                <a:ea typeface="Inter"/>
                <a:cs typeface="Inter"/>
                <a:sym typeface="Inter"/>
              </a:rPr>
              <a:t>Transparência e Entrega: Atuamos com clareza e dedicação total ao propósito, garantindo a verdade em cada etapa do caminho.</a:t>
            </a:r>
          </a:p>
          <a:p>
            <a:pPr algn="l">
              <a:lnSpc>
                <a:spcPts val="3500"/>
              </a:lnSpc>
            </a:pP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4604C"/>
                </a:solidFill>
                <a:latin typeface="Inter"/>
                <a:ea typeface="Inter"/>
                <a:cs typeface="Inter"/>
                <a:sym typeface="Inter"/>
              </a:rPr>
              <a:t>Soberania da Natureza: Protegemos e respeitamos a floresta como a fonte primordial de toda a vida e sabedoria.</a:t>
            </a:r>
          </a:p>
          <a:p>
            <a:pPr algn="l">
              <a:lnSpc>
                <a:spcPts val="350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274151" y="1964229"/>
            <a:ext cx="4813021" cy="7732411"/>
            <a:chOff x="0" y="0"/>
            <a:chExt cx="554064" cy="8901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4064" cy="890137"/>
            </a:xfrm>
            <a:custGeom>
              <a:avLst/>
              <a:gdLst/>
              <a:ahLst/>
              <a:cxnLst/>
              <a:rect r="r" b="b" t="t" l="l"/>
              <a:pathLst>
                <a:path h="890137" w="554064">
                  <a:moveTo>
                    <a:pt x="56299" y="0"/>
                  </a:moveTo>
                  <a:lnTo>
                    <a:pt x="497765" y="0"/>
                  </a:lnTo>
                  <a:cubicBezTo>
                    <a:pt x="528858" y="0"/>
                    <a:pt x="554064" y="25206"/>
                    <a:pt x="554064" y="56299"/>
                  </a:cubicBezTo>
                  <a:lnTo>
                    <a:pt x="554064" y="833839"/>
                  </a:lnTo>
                  <a:cubicBezTo>
                    <a:pt x="554064" y="864932"/>
                    <a:pt x="528858" y="890137"/>
                    <a:pt x="497765" y="890137"/>
                  </a:cubicBezTo>
                  <a:lnTo>
                    <a:pt x="56299" y="890137"/>
                  </a:lnTo>
                  <a:cubicBezTo>
                    <a:pt x="25206" y="890137"/>
                    <a:pt x="0" y="864932"/>
                    <a:pt x="0" y="833839"/>
                  </a:cubicBezTo>
                  <a:lnTo>
                    <a:pt x="0" y="56299"/>
                  </a:lnTo>
                  <a:cubicBezTo>
                    <a:pt x="0" y="25206"/>
                    <a:pt x="25206" y="0"/>
                    <a:pt x="56299" y="0"/>
                  </a:cubicBezTo>
                  <a:close/>
                </a:path>
              </a:pathLst>
            </a:custGeom>
            <a:blipFill>
              <a:blip r:embed="rId4"/>
              <a:stretch>
                <a:fillRect l="-3618" t="0" r="-361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542707" y="5656025"/>
            <a:ext cx="5318945" cy="5216999"/>
          </a:xfrm>
          <a:custGeom>
            <a:avLst/>
            <a:gdLst/>
            <a:ahLst/>
            <a:cxnLst/>
            <a:rect r="r" b="b" t="t" l="l"/>
            <a:pathLst>
              <a:path h="5216999" w="5318945">
                <a:moveTo>
                  <a:pt x="0" y="0"/>
                </a:moveTo>
                <a:lnTo>
                  <a:pt x="5318945" y="0"/>
                </a:lnTo>
                <a:lnTo>
                  <a:pt x="5318945" y="5216999"/>
                </a:lnTo>
                <a:lnTo>
                  <a:pt x="0" y="52169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23690" y="835027"/>
            <a:ext cx="732031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2B470E"/>
                </a:solidFill>
                <a:latin typeface="Fraunces Bold"/>
                <a:ea typeface="Fraunces Bold"/>
                <a:cs typeface="Fraunces Bold"/>
                <a:sym typeface="Fraunces Bold"/>
              </a:rPr>
              <a:t>Valores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23365" y="2839051"/>
            <a:ext cx="11122831" cy="433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72"/>
              </a:lnSpc>
            </a:pPr>
            <a:r>
              <a:rPr lang="en-US" sz="7226" b="true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"DAS RAÍZES DA CULTURA ACREANO-AMAZÔNICA PARA TODO O BRASIL."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68204" y="5429505"/>
            <a:ext cx="4791096" cy="17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Honramos a origem para garantir que o Sacramento chegue até você com a pureza que a tradição exige.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23365" y="7331540"/>
            <a:ext cx="18191245" cy="765067"/>
            <a:chOff x="0" y="0"/>
            <a:chExt cx="4791110" cy="2014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91110" cy="201499"/>
            </a:xfrm>
            <a:custGeom>
              <a:avLst/>
              <a:gdLst/>
              <a:ahLst/>
              <a:cxnLst/>
              <a:rect r="r" b="b" t="t" l="l"/>
              <a:pathLst>
                <a:path h="201499" w="4791110">
                  <a:moveTo>
                    <a:pt x="21705" y="0"/>
                  </a:moveTo>
                  <a:lnTo>
                    <a:pt x="4769405" y="0"/>
                  </a:lnTo>
                  <a:cubicBezTo>
                    <a:pt x="4781392" y="0"/>
                    <a:pt x="4791110" y="9718"/>
                    <a:pt x="4791110" y="21705"/>
                  </a:cubicBezTo>
                  <a:lnTo>
                    <a:pt x="4791110" y="179794"/>
                  </a:lnTo>
                  <a:cubicBezTo>
                    <a:pt x="4791110" y="185551"/>
                    <a:pt x="4788823" y="191072"/>
                    <a:pt x="4784753" y="195142"/>
                  </a:cubicBezTo>
                  <a:cubicBezTo>
                    <a:pt x="4780682" y="199212"/>
                    <a:pt x="4775162" y="201499"/>
                    <a:pt x="4769405" y="201499"/>
                  </a:cubicBezTo>
                  <a:lnTo>
                    <a:pt x="21705" y="201499"/>
                  </a:lnTo>
                  <a:cubicBezTo>
                    <a:pt x="9718" y="201499"/>
                    <a:pt x="0" y="191782"/>
                    <a:pt x="0" y="179794"/>
                  </a:cubicBezTo>
                  <a:lnTo>
                    <a:pt x="0" y="21705"/>
                  </a:lnTo>
                  <a:cubicBezTo>
                    <a:pt x="0" y="9718"/>
                    <a:pt x="9718" y="0"/>
                    <a:pt x="21705" y="0"/>
                  </a:cubicBezTo>
                  <a:close/>
                </a:path>
              </a:pathLst>
            </a:custGeom>
            <a:solidFill>
              <a:srgbClr val="2B470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791110" cy="258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470E">
                <a:alpha val="100000"/>
              </a:srgbClr>
            </a:gs>
            <a:gs pos="100000">
              <a:srgbClr val="4A791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153702" y="-350478"/>
            <a:ext cx="5601337" cy="5493978"/>
          </a:xfrm>
          <a:custGeom>
            <a:avLst/>
            <a:gdLst/>
            <a:ahLst/>
            <a:cxnLst/>
            <a:rect r="r" b="b" t="t" l="l"/>
            <a:pathLst>
              <a:path h="5493978" w="5601337">
                <a:moveTo>
                  <a:pt x="5601336" y="5493978"/>
                </a:moveTo>
                <a:lnTo>
                  <a:pt x="0" y="5493978"/>
                </a:lnTo>
                <a:lnTo>
                  <a:pt x="0" y="0"/>
                </a:lnTo>
                <a:lnTo>
                  <a:pt x="5601336" y="0"/>
                </a:lnTo>
                <a:lnTo>
                  <a:pt x="5601336" y="5493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445444" y="5143500"/>
            <a:ext cx="11182908" cy="5591454"/>
          </a:xfrm>
          <a:custGeom>
            <a:avLst/>
            <a:gdLst/>
            <a:ahLst/>
            <a:cxnLst/>
            <a:rect r="r" b="b" t="t" l="l"/>
            <a:pathLst>
              <a:path h="5591454" w="11182908">
                <a:moveTo>
                  <a:pt x="11182908" y="0"/>
                </a:moveTo>
                <a:lnTo>
                  <a:pt x="0" y="0"/>
                </a:lnTo>
                <a:lnTo>
                  <a:pt x="0" y="5591454"/>
                </a:lnTo>
                <a:lnTo>
                  <a:pt x="11182908" y="5591454"/>
                </a:lnTo>
                <a:lnTo>
                  <a:pt x="111829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666982" y="5654728"/>
            <a:ext cx="6616564" cy="850392"/>
            <a:chOff x="0" y="0"/>
            <a:chExt cx="1742634" cy="2239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2634" cy="223972"/>
            </a:xfrm>
            <a:custGeom>
              <a:avLst/>
              <a:gdLst/>
              <a:ahLst/>
              <a:cxnLst/>
              <a:rect r="r" b="b" t="t" l="l"/>
              <a:pathLst>
                <a:path h="223972" w="1742634">
                  <a:moveTo>
                    <a:pt x="22232" y="0"/>
                  </a:moveTo>
                  <a:lnTo>
                    <a:pt x="1720403" y="0"/>
                  </a:lnTo>
                  <a:cubicBezTo>
                    <a:pt x="1732681" y="0"/>
                    <a:pt x="1742634" y="9953"/>
                    <a:pt x="1742634" y="22232"/>
                  </a:cubicBezTo>
                  <a:lnTo>
                    <a:pt x="1742634" y="201740"/>
                  </a:lnTo>
                  <a:cubicBezTo>
                    <a:pt x="1742634" y="214018"/>
                    <a:pt x="1732681" y="223972"/>
                    <a:pt x="1720403" y="223972"/>
                  </a:cubicBezTo>
                  <a:lnTo>
                    <a:pt x="22232" y="223972"/>
                  </a:lnTo>
                  <a:cubicBezTo>
                    <a:pt x="16335" y="223972"/>
                    <a:pt x="10681" y="221629"/>
                    <a:pt x="6511" y="217460"/>
                  </a:cubicBezTo>
                  <a:cubicBezTo>
                    <a:pt x="2342" y="213291"/>
                    <a:pt x="0" y="207636"/>
                    <a:pt x="0" y="201740"/>
                  </a:cubicBezTo>
                  <a:lnTo>
                    <a:pt x="0" y="22232"/>
                  </a:lnTo>
                  <a:cubicBezTo>
                    <a:pt x="0" y="9953"/>
                    <a:pt x="9953" y="0"/>
                    <a:pt x="22232" y="0"/>
                  </a:cubicBezTo>
                  <a:close/>
                </a:path>
              </a:pathLst>
            </a:custGeom>
            <a:solidFill>
              <a:srgbClr val="93C33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2634" cy="26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66982" y="6774138"/>
            <a:ext cx="6287388" cy="850392"/>
            <a:chOff x="0" y="0"/>
            <a:chExt cx="1655938" cy="2239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5937" cy="223972"/>
            </a:xfrm>
            <a:custGeom>
              <a:avLst/>
              <a:gdLst/>
              <a:ahLst/>
              <a:cxnLst/>
              <a:rect r="r" b="b" t="t" l="l"/>
              <a:pathLst>
                <a:path h="223972" w="1655937">
                  <a:moveTo>
                    <a:pt x="23395" y="0"/>
                  </a:moveTo>
                  <a:lnTo>
                    <a:pt x="1632542" y="0"/>
                  </a:lnTo>
                  <a:cubicBezTo>
                    <a:pt x="1638747" y="0"/>
                    <a:pt x="1644698" y="2465"/>
                    <a:pt x="1649085" y="6852"/>
                  </a:cubicBezTo>
                  <a:cubicBezTo>
                    <a:pt x="1653473" y="11240"/>
                    <a:pt x="1655937" y="17191"/>
                    <a:pt x="1655937" y="23395"/>
                  </a:cubicBezTo>
                  <a:lnTo>
                    <a:pt x="1655937" y="200576"/>
                  </a:lnTo>
                  <a:cubicBezTo>
                    <a:pt x="1655937" y="206781"/>
                    <a:pt x="1653473" y="212732"/>
                    <a:pt x="1649085" y="217119"/>
                  </a:cubicBezTo>
                  <a:cubicBezTo>
                    <a:pt x="1644698" y="221507"/>
                    <a:pt x="1638747" y="223972"/>
                    <a:pt x="1632542" y="223972"/>
                  </a:cubicBezTo>
                  <a:lnTo>
                    <a:pt x="23395" y="223972"/>
                  </a:lnTo>
                  <a:cubicBezTo>
                    <a:pt x="17191" y="223972"/>
                    <a:pt x="11240" y="221507"/>
                    <a:pt x="6852" y="217119"/>
                  </a:cubicBezTo>
                  <a:cubicBezTo>
                    <a:pt x="2465" y="212732"/>
                    <a:pt x="0" y="206781"/>
                    <a:pt x="0" y="200576"/>
                  </a:cubicBezTo>
                  <a:lnTo>
                    <a:pt x="0" y="23395"/>
                  </a:lnTo>
                  <a:cubicBezTo>
                    <a:pt x="0" y="17191"/>
                    <a:pt x="2465" y="11240"/>
                    <a:pt x="6852" y="6852"/>
                  </a:cubicBezTo>
                  <a:cubicBezTo>
                    <a:pt x="11240" y="2465"/>
                    <a:pt x="17191" y="0"/>
                    <a:pt x="23395" y="0"/>
                  </a:cubicBezTo>
                  <a:close/>
                </a:path>
              </a:pathLst>
            </a:custGeom>
            <a:solidFill>
              <a:srgbClr val="93C33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55938" cy="26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66982" y="7925585"/>
            <a:ext cx="4655692" cy="850392"/>
            <a:chOff x="0" y="0"/>
            <a:chExt cx="1226190" cy="2239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6190" cy="223972"/>
            </a:xfrm>
            <a:custGeom>
              <a:avLst/>
              <a:gdLst/>
              <a:ahLst/>
              <a:cxnLst/>
              <a:rect r="r" b="b" t="t" l="l"/>
              <a:pathLst>
                <a:path h="223972" w="1226190">
                  <a:moveTo>
                    <a:pt x="31595" y="0"/>
                  </a:moveTo>
                  <a:lnTo>
                    <a:pt x="1194595" y="0"/>
                  </a:lnTo>
                  <a:cubicBezTo>
                    <a:pt x="1202975" y="0"/>
                    <a:pt x="1211011" y="3329"/>
                    <a:pt x="1216936" y="9254"/>
                  </a:cubicBezTo>
                  <a:cubicBezTo>
                    <a:pt x="1222862" y="15179"/>
                    <a:pt x="1226190" y="23215"/>
                    <a:pt x="1226190" y="31595"/>
                  </a:cubicBezTo>
                  <a:lnTo>
                    <a:pt x="1226190" y="192377"/>
                  </a:lnTo>
                  <a:cubicBezTo>
                    <a:pt x="1226190" y="209826"/>
                    <a:pt x="1212045" y="223972"/>
                    <a:pt x="1194595" y="223972"/>
                  </a:cubicBezTo>
                  <a:lnTo>
                    <a:pt x="31595" y="223972"/>
                  </a:lnTo>
                  <a:cubicBezTo>
                    <a:pt x="23215" y="223972"/>
                    <a:pt x="15179" y="220643"/>
                    <a:pt x="9254" y="214718"/>
                  </a:cubicBezTo>
                  <a:cubicBezTo>
                    <a:pt x="3329" y="208793"/>
                    <a:pt x="0" y="200756"/>
                    <a:pt x="0" y="192377"/>
                  </a:cubicBezTo>
                  <a:lnTo>
                    <a:pt x="0" y="31595"/>
                  </a:lnTo>
                  <a:cubicBezTo>
                    <a:pt x="0" y="23215"/>
                    <a:pt x="3329" y="15179"/>
                    <a:pt x="9254" y="9254"/>
                  </a:cubicBezTo>
                  <a:cubicBezTo>
                    <a:pt x="15179" y="3329"/>
                    <a:pt x="23215" y="0"/>
                    <a:pt x="31595" y="0"/>
                  </a:cubicBezTo>
                  <a:close/>
                </a:path>
              </a:pathLst>
            </a:custGeom>
            <a:solidFill>
              <a:srgbClr val="93C33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26190" cy="26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66982" y="1700074"/>
            <a:ext cx="6883264" cy="3259330"/>
            <a:chOff x="0" y="0"/>
            <a:chExt cx="1066398" cy="5049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398" cy="504955"/>
            </a:xfrm>
            <a:custGeom>
              <a:avLst/>
              <a:gdLst/>
              <a:ahLst/>
              <a:cxnLst/>
              <a:rect r="r" b="b" t="t" l="l"/>
              <a:pathLst>
                <a:path h="504955" w="1066398">
                  <a:moveTo>
                    <a:pt x="39366" y="0"/>
                  </a:moveTo>
                  <a:lnTo>
                    <a:pt x="1027032" y="0"/>
                  </a:lnTo>
                  <a:cubicBezTo>
                    <a:pt x="1048773" y="0"/>
                    <a:pt x="1066398" y="17625"/>
                    <a:pt x="1066398" y="39366"/>
                  </a:cubicBezTo>
                  <a:lnTo>
                    <a:pt x="1066398" y="465589"/>
                  </a:lnTo>
                  <a:cubicBezTo>
                    <a:pt x="1066398" y="487331"/>
                    <a:pt x="1048773" y="504955"/>
                    <a:pt x="1027032" y="504955"/>
                  </a:cubicBezTo>
                  <a:lnTo>
                    <a:pt x="39366" y="504955"/>
                  </a:lnTo>
                  <a:cubicBezTo>
                    <a:pt x="17625" y="504955"/>
                    <a:pt x="0" y="487331"/>
                    <a:pt x="0" y="465589"/>
                  </a:cubicBezTo>
                  <a:lnTo>
                    <a:pt x="0" y="39366"/>
                  </a:lnTo>
                  <a:cubicBezTo>
                    <a:pt x="0" y="17625"/>
                    <a:pt x="17625" y="0"/>
                    <a:pt x="3936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0459" r="0" b="-20459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931299" y="8070959"/>
            <a:ext cx="559645" cy="559645"/>
          </a:xfrm>
          <a:custGeom>
            <a:avLst/>
            <a:gdLst/>
            <a:ahLst/>
            <a:cxnLst/>
            <a:rect r="r" b="b" t="t" l="l"/>
            <a:pathLst>
              <a:path h="559645" w="559645">
                <a:moveTo>
                  <a:pt x="0" y="0"/>
                </a:moveTo>
                <a:lnTo>
                  <a:pt x="559644" y="0"/>
                </a:lnTo>
                <a:lnTo>
                  <a:pt x="559644" y="559644"/>
                </a:lnTo>
                <a:lnTo>
                  <a:pt x="0" y="559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31299" y="6919512"/>
            <a:ext cx="559645" cy="559645"/>
          </a:xfrm>
          <a:custGeom>
            <a:avLst/>
            <a:gdLst/>
            <a:ahLst/>
            <a:cxnLst/>
            <a:rect r="r" b="b" t="t" l="l"/>
            <a:pathLst>
              <a:path h="559645" w="559645">
                <a:moveTo>
                  <a:pt x="0" y="0"/>
                </a:moveTo>
                <a:lnTo>
                  <a:pt x="559644" y="0"/>
                </a:lnTo>
                <a:lnTo>
                  <a:pt x="559644" y="559645"/>
                </a:lnTo>
                <a:lnTo>
                  <a:pt x="0" y="5596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823690" y="7643233"/>
            <a:ext cx="6463371" cy="1337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6"/>
              </a:lnSpc>
            </a:pPr>
          </a:p>
          <a:p>
            <a:pPr algn="ctr">
              <a:lnSpc>
                <a:spcPts val="4986"/>
              </a:lnSpc>
            </a:pPr>
            <a:r>
              <a:rPr lang="en-US" sz="6312" b="true">
                <a:solidFill>
                  <a:srgbClr val="271307"/>
                </a:solidFill>
                <a:latin typeface="Cardo Bold"/>
                <a:ea typeface="Cardo Bold"/>
                <a:cs typeface="Cardo Bold"/>
                <a:sym typeface="Cardo Bold"/>
              </a:rPr>
              <a:t>NATIVARAM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563588" y="5395278"/>
            <a:ext cx="4983576" cy="2491788"/>
          </a:xfrm>
          <a:custGeom>
            <a:avLst/>
            <a:gdLst/>
            <a:ahLst/>
            <a:cxnLst/>
            <a:rect r="r" b="b" t="t" l="l"/>
            <a:pathLst>
              <a:path h="2491788" w="4983576">
                <a:moveTo>
                  <a:pt x="0" y="0"/>
                </a:moveTo>
                <a:lnTo>
                  <a:pt x="4983576" y="0"/>
                </a:lnTo>
                <a:lnTo>
                  <a:pt x="4983576" y="2491788"/>
                </a:lnTo>
                <a:lnTo>
                  <a:pt x="0" y="24917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10000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2824143" y="5557023"/>
            <a:ext cx="4462465" cy="2172204"/>
          </a:xfrm>
          <a:custGeom>
            <a:avLst/>
            <a:gdLst/>
            <a:ahLst/>
            <a:cxnLst/>
            <a:rect r="r" b="b" t="t" l="l"/>
            <a:pathLst>
              <a:path h="2172204" w="4462465">
                <a:moveTo>
                  <a:pt x="0" y="0"/>
                </a:moveTo>
                <a:lnTo>
                  <a:pt x="4462465" y="0"/>
                </a:lnTo>
                <a:lnTo>
                  <a:pt x="4462465" y="2172204"/>
                </a:lnTo>
                <a:lnTo>
                  <a:pt x="0" y="21722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10543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2389974" y="8745629"/>
            <a:ext cx="2678042" cy="257762"/>
          </a:xfrm>
          <a:custGeom>
            <a:avLst/>
            <a:gdLst/>
            <a:ahLst/>
            <a:cxnLst/>
            <a:rect r="r" b="b" t="t" l="l"/>
            <a:pathLst>
              <a:path h="257762" w="2678042">
                <a:moveTo>
                  <a:pt x="0" y="0"/>
                </a:moveTo>
                <a:lnTo>
                  <a:pt x="2678042" y="0"/>
                </a:lnTo>
                <a:lnTo>
                  <a:pt x="2678042" y="257762"/>
                </a:lnTo>
                <a:lnTo>
                  <a:pt x="0" y="2577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053983" y="8745629"/>
            <a:ext cx="2678042" cy="257762"/>
          </a:xfrm>
          <a:custGeom>
            <a:avLst/>
            <a:gdLst/>
            <a:ahLst/>
            <a:cxnLst/>
            <a:rect r="r" b="b" t="t" l="l"/>
            <a:pathLst>
              <a:path h="257762" w="2678042">
                <a:moveTo>
                  <a:pt x="0" y="0"/>
                </a:moveTo>
                <a:lnTo>
                  <a:pt x="2678042" y="0"/>
                </a:lnTo>
                <a:lnTo>
                  <a:pt x="2678042" y="257762"/>
                </a:lnTo>
                <a:lnTo>
                  <a:pt x="0" y="2577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944765" y="5806819"/>
            <a:ext cx="546178" cy="546178"/>
          </a:xfrm>
          <a:custGeom>
            <a:avLst/>
            <a:gdLst/>
            <a:ahLst/>
            <a:cxnLst/>
            <a:rect r="r" b="b" t="t" l="l"/>
            <a:pathLst>
              <a:path h="546178" w="546178">
                <a:moveTo>
                  <a:pt x="0" y="0"/>
                </a:moveTo>
                <a:lnTo>
                  <a:pt x="546178" y="0"/>
                </a:lnTo>
                <a:lnTo>
                  <a:pt x="546178" y="546178"/>
                </a:lnTo>
                <a:lnTo>
                  <a:pt x="0" y="54617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823690" y="1709599"/>
            <a:ext cx="6920132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FFFFFF"/>
                </a:solidFill>
                <a:latin typeface="Fraunces Bold"/>
                <a:ea typeface="Fraunces Bold"/>
                <a:cs typeface="Fraunces Bold"/>
                <a:sym typeface="Fraunces Bold"/>
              </a:rPr>
              <a:t>Sinta a força da floresta!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23690" y="4449622"/>
            <a:ext cx="6822301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BCBFB9"/>
                </a:solidFill>
                <a:latin typeface="Inter"/>
                <a:ea typeface="Inter"/>
                <a:cs typeface="Inter"/>
                <a:sym typeface="Inter"/>
              </a:rPr>
              <a:t> "Convidamos você a caminhar conosco nessa jornada de despertar."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97728" y="5841783"/>
            <a:ext cx="54858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B470E"/>
                </a:solidFill>
                <a:latin typeface="Inter Bold"/>
                <a:ea typeface="Inter Bold"/>
                <a:cs typeface="Inter Bold"/>
                <a:sym typeface="Inter Bold"/>
              </a:rPr>
              <a:t>@nativarambrasil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97728" y="6961193"/>
            <a:ext cx="54858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B470E"/>
                </a:solidFill>
                <a:latin typeface="Inter Bold"/>
                <a:ea typeface="Inter Bold"/>
                <a:cs typeface="Inter Bold"/>
                <a:sym typeface="Inter Bold"/>
              </a:rPr>
              <a:t>www.nativaram.com.br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97728" y="8112639"/>
            <a:ext cx="352494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B470E"/>
                </a:solidFill>
                <a:latin typeface="Inter Bold"/>
                <a:ea typeface="Inter Bold"/>
                <a:cs typeface="Inter Bold"/>
                <a:sym typeface="Inter Bold"/>
              </a:rPr>
              <a:t>(68) 9997-9104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14182" y="7802407"/>
            <a:ext cx="4682388" cy="95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2"/>
              </a:lnSpc>
            </a:pPr>
            <a:r>
              <a:rPr lang="en-US" sz="4573">
                <a:solidFill>
                  <a:srgbClr val="271307"/>
                </a:solidFill>
                <a:latin typeface="Montserrat"/>
                <a:ea typeface="Montserrat"/>
                <a:cs typeface="Montserrat"/>
                <a:sym typeface="Montserrat"/>
              </a:rPr>
              <a:t>COOPERATIVA</a:t>
            </a:r>
          </a:p>
          <a:p>
            <a:pPr algn="ctr">
              <a:lnSpc>
                <a:spcPts val="361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DAHIVbFtNZs</dc:identifier>
  <dcterms:modified xsi:type="dcterms:W3CDTF">2011-08-01T06:04:30Z</dcterms:modified>
  <cp:revision>1</cp:revision>
  <dc:title>INSTITUCIONAL NATIVARAM 2026</dc:title>
</cp:coreProperties>
</file>